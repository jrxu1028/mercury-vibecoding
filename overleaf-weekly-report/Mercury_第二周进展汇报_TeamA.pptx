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6"/>
  </p:normalViewPr>
  <p:slideViewPr>
    <p:cSldViewPr snapToGrid="0">
      <p:cViewPr varScale="1">
        <p:scale>
          <a:sx n="121" d="100"/>
          <a:sy n="121" d="100"/>
        </p:scale>
        <p:origin x="7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50C6803-7D1D-4AA2-92E7-63ACE0770C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0B3A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BA70F1B-B548-4255-8403-C2BD608244A9}"/>
              </a:ext>
            </a:extLst>
          </p:cNvPr>
          <p:cNvSpPr>
            <a:spLocks noGrp="1"/>
          </p:cNvSpPr>
          <p:nvPr/>
        </p:nvSpPr>
        <p:spPr>
          <a:xfrm>
            <a:off x="342900" y="174734"/>
            <a:ext cx="115062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/>
          <a:p>
            <a:pPr algn="l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Mercury </a:t>
            </a:r>
            <a:r>
              <a:rPr sz="255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Vibecoding</a:t>
            </a:r>
            <a:endParaRPr sz="255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BCF8CF9-A747-4FF3-BCAA-FFB702E47209}"/>
              </a:ext>
            </a:extLst>
          </p:cNvPr>
          <p:cNvSpPr>
            <a:spLocks noGrp="1"/>
          </p:cNvSpPr>
          <p:nvPr/>
        </p:nvSpPr>
        <p:spPr>
          <a:xfrm>
            <a:off x="1143000" y="1453383"/>
            <a:ext cx="99060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/>
          <a:p>
            <a:pPr algn="ctr">
              <a:defRPr sz="3900" b="1">
                <a:solidFill>
                  <a:srgbClr val="0B3A66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 dirty="0" err="1">
                <a:solidFill>
                  <a:srgbClr val="0B3A66"/>
                </a:solidFill>
                <a:latin typeface="PingFang SC"/>
                <a:ea typeface="PingFang SC"/>
                <a:cs typeface="PingFang SC"/>
              </a:rPr>
              <a:t>第二周进展汇报（Team</a:t>
            </a:r>
            <a:r>
              <a:rPr sz="3900" b="1" dirty="0">
                <a:solidFill>
                  <a:srgbClr val="0B3A66"/>
                </a:solidFill>
                <a:latin typeface="PingFang SC"/>
                <a:ea typeface="PingFang SC"/>
                <a:cs typeface="PingFang SC"/>
              </a:rPr>
              <a:t> A）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1A1411-29FB-4FAD-A513-DC8A974B0172}"/>
              </a:ext>
            </a:extLst>
          </p:cNvPr>
          <p:cNvSpPr>
            <a:spLocks noGrp="1"/>
          </p:cNvSpPr>
          <p:nvPr/>
        </p:nvSpPr>
        <p:spPr>
          <a:xfrm>
            <a:off x="1143000" y="4477407"/>
            <a:ext cx="99060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/>
          <a:p>
            <a:pPr algn="ctr">
              <a:defRPr sz="2250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Team </a:t>
            </a:r>
            <a:r>
              <a:rPr sz="2250" b="0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A：Feed</a:t>
            </a:r>
            <a:r>
              <a:rPr sz="2250" b="0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 &amp; </a:t>
            </a:r>
            <a:r>
              <a:rPr sz="2250" b="0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同步组</a:t>
            </a:r>
            <a:endParaRPr sz="2250" b="0" dirty="0">
              <a:solidFill>
                <a:srgbClr val="1F2937"/>
              </a:solidFill>
              <a:latin typeface="PingFang SC"/>
              <a:ea typeface="PingFang SC"/>
              <a:cs typeface="PingFang SC"/>
            </a:endParaRPr>
          </a:p>
          <a:p>
            <a:pPr algn="ctr">
              <a:defRPr sz="2250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课程小组项目</a:t>
            </a:r>
            <a:endParaRPr sz="2250" b="0" dirty="0">
              <a:solidFill>
                <a:srgbClr val="1F2937"/>
              </a:solidFill>
              <a:latin typeface="PingFang SC"/>
              <a:ea typeface="PingFang SC"/>
              <a:cs typeface="PingFang SC"/>
            </a:endParaRPr>
          </a:p>
          <a:p>
            <a:pPr algn="ctr">
              <a:defRPr sz="2250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2026-05-28</a:t>
            </a:r>
          </a:p>
        </p:txBody>
      </p:sp>
    </p:spTree>
    <p:extLst>
      <p:ext uri="{BB962C8B-B14F-4D97-AF65-F5344CB8AC3E}">
        <p14:creationId xmlns:p14="http://schemas.microsoft.com/office/powerpoint/2010/main" val="468003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A062EC4-E7EF-4D29-8B0B-F0DF1A7AA0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0B3A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CAF4940-D5D7-4916-935E-F585B4469DC8}"/>
              </a:ext>
            </a:extLst>
          </p:cNvPr>
          <p:cNvSpPr>
            <a:spLocks noGrp="1"/>
          </p:cNvSpPr>
          <p:nvPr/>
        </p:nvSpPr>
        <p:spPr>
          <a:xfrm>
            <a:off x="342900" y="152400"/>
            <a:ext cx="115062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/>
          <a:p>
            <a:pPr algn="l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汇报提纲</a:t>
            </a:r>
            <a:endParaRPr sz="255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654C1E-A3B2-4DA0-B690-38F0C0CF8EC9}"/>
              </a:ext>
            </a:extLst>
          </p:cNvPr>
          <p:cNvSpPr>
            <a:spLocks noGrp="1"/>
          </p:cNvSpPr>
          <p:nvPr/>
        </p:nvSpPr>
        <p:spPr>
          <a:xfrm>
            <a:off x="525518" y="1714500"/>
            <a:ext cx="8953500" cy="3429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marL="514350" indent="-514350" algn="l">
              <a:lnSpc>
                <a:spcPct val="200000"/>
              </a:lnSpc>
              <a:buFont typeface="+mj-lt"/>
              <a:buAutoNum type="arabicPeriod"/>
              <a:defRPr sz="2850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本周目标与完成情况</a:t>
            </a:r>
            <a:endParaRPr sz="2850" b="1" dirty="0">
              <a:solidFill>
                <a:srgbClr val="1F2937"/>
              </a:solidFill>
              <a:latin typeface="PingFang SC"/>
              <a:ea typeface="PingFang SC"/>
              <a:cs typeface="PingFang SC"/>
            </a:endParaRPr>
          </a:p>
          <a:p>
            <a:pPr marL="514350" indent="-514350" algn="l">
              <a:lnSpc>
                <a:spcPct val="200000"/>
              </a:lnSpc>
              <a:buFont typeface="+mj-lt"/>
              <a:buAutoNum type="arabicPeriod"/>
              <a:defRPr sz="2850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实现细节</a:t>
            </a:r>
            <a:endParaRPr sz="2850" b="1" dirty="0">
              <a:solidFill>
                <a:srgbClr val="1F2937"/>
              </a:solidFill>
              <a:latin typeface="PingFang SC"/>
              <a:ea typeface="PingFang SC"/>
              <a:cs typeface="PingFang SC"/>
            </a:endParaRPr>
          </a:p>
          <a:p>
            <a:pPr marL="514350" indent="-514350" algn="l">
              <a:lnSpc>
                <a:spcPct val="200000"/>
              </a:lnSpc>
              <a:buFont typeface="+mj-lt"/>
              <a:buAutoNum type="arabicPeriod"/>
              <a:defRPr sz="2850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质量与风</a:t>
            </a:r>
            <a:r>
              <a:rPr lang="zh-CN" altLang="en-US" sz="285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险</a:t>
            </a:r>
          </a:p>
        </p:txBody>
      </p:sp>
    </p:spTree>
    <p:extLst>
      <p:ext uri="{BB962C8B-B14F-4D97-AF65-F5344CB8AC3E}">
        <p14:creationId xmlns:p14="http://schemas.microsoft.com/office/powerpoint/2010/main" val="2041873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FD3B53B-A002-4F4B-8562-E160DB8F38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0B3A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15B59F7-33ED-422F-A7CA-8C758938838B}"/>
              </a:ext>
            </a:extLst>
          </p:cNvPr>
          <p:cNvSpPr>
            <a:spLocks noGrp="1"/>
          </p:cNvSpPr>
          <p:nvPr/>
        </p:nvSpPr>
        <p:spPr>
          <a:xfrm>
            <a:off x="342900" y="152400"/>
            <a:ext cx="115062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/>
          <a:p>
            <a:pPr algn="l">
              <a:defRPr sz="1500" b="0">
                <a:solidFill>
                  <a:srgbClr val="0B3A66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550" b="1" dirty="0">
                <a:solidFill>
                  <a:schemeClr val="bg1"/>
                </a:solidFill>
                <a:latin typeface="PingFang SC"/>
                <a:ea typeface="PingFang SC"/>
                <a:cs typeface="PingFang SC"/>
              </a:rPr>
              <a:t>本周任务目标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538F49-BF8A-449D-A4AB-9CB782777E43}"/>
              </a:ext>
            </a:extLst>
          </p:cNvPr>
          <p:cNvSpPr>
            <a:spLocks noGrp="1"/>
          </p:cNvSpPr>
          <p:nvPr/>
        </p:nvSpPr>
        <p:spPr>
          <a:xfrm>
            <a:off x="342900" y="1577865"/>
            <a:ext cx="9906000" cy="419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lnSpc>
                <a:spcPct val="150000"/>
              </a:lnSpc>
              <a:defRPr sz="2175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2175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完成</a:t>
            </a:r>
            <a:r>
              <a:rPr sz="2175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 Feed </a:t>
            </a:r>
            <a:r>
              <a:rPr sz="2175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添加</a:t>
            </a:r>
            <a:r>
              <a:rPr sz="2175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/</a:t>
            </a:r>
            <a:r>
              <a:rPr sz="2175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删除与</a:t>
            </a:r>
            <a:r>
              <a:rPr sz="2175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 RSS/Atom </a:t>
            </a:r>
            <a:r>
              <a:rPr sz="2175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解析</a:t>
            </a:r>
            <a:endParaRPr sz="2175" b="1" dirty="0">
              <a:solidFill>
                <a:srgbClr val="1F2937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50000"/>
              </a:lnSpc>
              <a:defRPr sz="2175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2175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完成</a:t>
            </a:r>
            <a:r>
              <a:rPr sz="2175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 OPML </a:t>
            </a:r>
            <a:r>
              <a:rPr sz="2175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导入</a:t>
            </a:r>
            <a:r>
              <a:rPr sz="2175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/</a:t>
            </a:r>
            <a:r>
              <a:rPr sz="2175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导出</a:t>
            </a:r>
            <a:endParaRPr sz="2175" b="1" dirty="0">
              <a:solidFill>
                <a:srgbClr val="1F2937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50000"/>
              </a:lnSpc>
              <a:defRPr sz="2175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2175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完成</a:t>
            </a:r>
            <a:r>
              <a:rPr sz="2175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 Feed </a:t>
            </a:r>
            <a:r>
              <a:rPr sz="2175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同步（单源、全量、定时</a:t>
            </a:r>
            <a:r>
              <a:rPr sz="2175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）</a:t>
            </a:r>
          </a:p>
          <a:p>
            <a:pPr algn="l">
              <a:lnSpc>
                <a:spcPct val="150000"/>
              </a:lnSpc>
              <a:defRPr sz="2175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2175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打通文章列表展示闭环</a:t>
            </a:r>
            <a:endParaRPr sz="2175" b="1" dirty="0">
              <a:solidFill>
                <a:srgbClr val="1F2937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50000"/>
              </a:lnSpc>
              <a:defRPr sz="2175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2175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从本地网页联调升级为</a:t>
            </a:r>
            <a:r>
              <a:rPr sz="2175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 Electron </a:t>
            </a:r>
            <a:r>
              <a:rPr sz="2175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桌面应用</a:t>
            </a:r>
            <a:endParaRPr sz="2175" b="1" dirty="0">
              <a:solidFill>
                <a:srgbClr val="1F2937"/>
              </a:solidFill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619374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CA80C64-F56F-4029-AF0A-51E382D5EF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0B3A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39105B1-4688-43A1-ACBF-159DBCAC8680}"/>
              </a:ext>
            </a:extLst>
          </p:cNvPr>
          <p:cNvSpPr>
            <a:spLocks noGrp="1"/>
          </p:cNvSpPr>
          <p:nvPr/>
        </p:nvSpPr>
        <p:spPr>
          <a:xfrm>
            <a:off x="342900" y="152400"/>
            <a:ext cx="115062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/>
          <a:p>
            <a:pPr algn="l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本周交付结果</a:t>
            </a:r>
            <a:endParaRPr sz="255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33494C0-D16C-4284-8C7C-D1082460B487}"/>
              </a:ext>
            </a:extLst>
          </p:cNvPr>
          <p:cNvSpPr>
            <a:spLocks noGrp="1"/>
          </p:cNvSpPr>
          <p:nvPr/>
        </p:nvSpPr>
        <p:spPr>
          <a:xfrm>
            <a:off x="342900" y="1471448"/>
            <a:ext cx="10287000" cy="476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lnSpc>
                <a:spcPct val="200000"/>
              </a:lnSpc>
              <a:defRPr sz="1800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数据层：落地</a:t>
            </a: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 feeds / entries </a:t>
            </a: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表，支持去重写入（feed_id</a:t>
            </a: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 + </a:t>
            </a: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guid</a:t>
            </a: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）</a:t>
            </a:r>
          </a:p>
          <a:p>
            <a:pPr algn="l">
              <a:lnSpc>
                <a:spcPct val="200000"/>
              </a:lnSpc>
              <a:defRPr sz="1800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解析层：接入</a:t>
            </a: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rss-parser（RSS</a:t>
            </a: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/</a:t>
            </a: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Atom）和</a:t>
            </a: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fast-xml-parser（OPML</a:t>
            </a: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）</a:t>
            </a:r>
          </a:p>
          <a:p>
            <a:pPr algn="l">
              <a:lnSpc>
                <a:spcPct val="200000"/>
              </a:lnSpc>
              <a:defRPr sz="1800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服务层：FeedService、OPMLService、同步流程与错误处理</a:t>
            </a:r>
            <a:endParaRPr sz="2180" b="1" dirty="0">
              <a:solidFill>
                <a:srgbClr val="1F2937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200000"/>
              </a:lnSpc>
              <a:defRPr sz="1800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前端层：三栏</a:t>
            </a: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UI（订阅源</a:t>
            </a: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 / </a:t>
            </a: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文章列表</a:t>
            </a: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 / </a:t>
            </a: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详情</a:t>
            </a: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）+ </a:t>
            </a: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搜索</a:t>
            </a: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 + </a:t>
            </a: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导入导出交互</a:t>
            </a:r>
            <a:endParaRPr sz="2180" b="1" dirty="0">
              <a:solidFill>
                <a:srgbClr val="1F2937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200000"/>
              </a:lnSpc>
              <a:defRPr sz="1800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桌面化</a:t>
            </a: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：`Electron Main + Preload + IPC`，</a:t>
            </a: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前端</a:t>
            </a: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 API </a:t>
            </a: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改为</a:t>
            </a: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 IPC </a:t>
            </a: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优先</a:t>
            </a:r>
            <a:endParaRPr sz="2180" b="1" dirty="0">
              <a:solidFill>
                <a:srgbClr val="1F2937"/>
              </a:solidFill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724869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570D4825-946B-4834-A51A-165E3A2503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0B3A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6C4B98-03F1-46B9-9BA3-4A98B9B6C9E4}"/>
              </a:ext>
            </a:extLst>
          </p:cNvPr>
          <p:cNvSpPr>
            <a:spLocks noGrp="1"/>
          </p:cNvSpPr>
          <p:nvPr/>
        </p:nvSpPr>
        <p:spPr>
          <a:xfrm>
            <a:off x="342900" y="152400"/>
            <a:ext cx="115062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/>
          <a:p>
            <a:pPr algn="l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技术架构</a:t>
            </a:r>
            <a:endParaRPr sz="255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B53D94-9A31-4715-9E74-AA8DC607BB48}"/>
              </a:ext>
            </a:extLst>
          </p:cNvPr>
          <p:cNvSpPr>
            <a:spLocks noGrp="1"/>
          </p:cNvSpPr>
          <p:nvPr/>
        </p:nvSpPr>
        <p:spPr>
          <a:xfrm>
            <a:off x="3059167" y="1714500"/>
            <a:ext cx="5715000" cy="3429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2025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用户操作</a:t>
            </a:r>
            <a:endParaRPr sz="2180" b="1" dirty="0">
              <a:solidFill>
                <a:srgbClr val="1F2937"/>
              </a:solidFill>
              <a:latin typeface="PingFang SC"/>
              <a:ea typeface="PingFang SC"/>
              <a:cs typeface="PingFang SC"/>
            </a:endParaRPr>
          </a:p>
          <a:p>
            <a:pPr algn="ctr">
              <a:defRPr sz="2025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↓</a:t>
            </a:r>
          </a:p>
          <a:p>
            <a:pPr algn="ctr">
              <a:defRPr sz="2025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Renderer（Vue</a:t>
            </a: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 3 + TypeScript）</a:t>
            </a:r>
          </a:p>
          <a:p>
            <a:pPr algn="ctr">
              <a:defRPr sz="2025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↓ IPC</a:t>
            </a:r>
          </a:p>
          <a:p>
            <a:pPr algn="ctr">
              <a:defRPr sz="2025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Main </a:t>
            </a: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Process（Electron</a:t>
            </a: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 + Node.js）</a:t>
            </a:r>
          </a:p>
          <a:p>
            <a:pPr algn="ctr">
              <a:defRPr sz="2025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↓</a:t>
            </a:r>
          </a:p>
          <a:p>
            <a:pPr algn="ctr">
              <a:defRPr sz="2025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Feed/OPML Service</a:t>
            </a:r>
          </a:p>
          <a:p>
            <a:pPr algn="ctr">
              <a:defRPr sz="2025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↓</a:t>
            </a:r>
          </a:p>
          <a:p>
            <a:pPr algn="ctr">
              <a:defRPr sz="2025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SQLite（本地数据</a:t>
            </a: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A90F56-7384-46B8-B3E6-813882EED9D3}"/>
              </a:ext>
            </a:extLst>
          </p:cNvPr>
          <p:cNvSpPr>
            <a:spLocks noGrp="1"/>
          </p:cNvSpPr>
          <p:nvPr/>
        </p:nvSpPr>
        <p:spPr>
          <a:xfrm>
            <a:off x="342900" y="5486400"/>
            <a:ext cx="8953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lnSpc>
                <a:spcPct val="150000"/>
              </a:lnSpc>
              <a:defRPr sz="1800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本地优先：无登录、无云端依赖</a:t>
            </a:r>
            <a:endParaRPr sz="2180" b="1" dirty="0">
              <a:solidFill>
                <a:srgbClr val="1F2937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50000"/>
              </a:lnSpc>
              <a:defRPr sz="1800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跨平台基础：桌面壳已切换为</a:t>
            </a: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 Electron</a:t>
            </a:r>
          </a:p>
        </p:txBody>
      </p:sp>
    </p:spTree>
    <p:extLst>
      <p:ext uri="{BB962C8B-B14F-4D97-AF65-F5344CB8AC3E}">
        <p14:creationId xmlns:p14="http://schemas.microsoft.com/office/powerpoint/2010/main" val="1006444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5D6558D-F786-4D5D-AC81-6E7C6A0F6C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0B3A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8B98881-DA94-4DBE-82FE-F9FF5B0B6BFF}"/>
              </a:ext>
            </a:extLst>
          </p:cNvPr>
          <p:cNvSpPr>
            <a:spLocks noGrp="1"/>
          </p:cNvSpPr>
          <p:nvPr/>
        </p:nvSpPr>
        <p:spPr>
          <a:xfrm>
            <a:off x="437493" y="149772"/>
            <a:ext cx="115062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/>
          <a:p>
            <a:pPr algn="l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关键功能演示点</a:t>
            </a:r>
            <a:endParaRPr sz="255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A20D47-703C-4F80-82DE-BEE97A81637F}"/>
              </a:ext>
            </a:extLst>
          </p:cNvPr>
          <p:cNvSpPr>
            <a:spLocks noGrp="1"/>
          </p:cNvSpPr>
          <p:nvPr/>
        </p:nvSpPr>
        <p:spPr>
          <a:xfrm>
            <a:off x="285093" y="2186152"/>
            <a:ext cx="5905500" cy="409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lnSpc>
                <a:spcPct val="200000"/>
              </a:lnSpc>
              <a:defRPr sz="1875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输入</a:t>
            </a: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 RSS </a:t>
            </a: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URL，添加</a:t>
            </a: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 Feed</a:t>
            </a:r>
          </a:p>
          <a:p>
            <a:pPr algn="l">
              <a:lnSpc>
                <a:spcPct val="200000"/>
              </a:lnSpc>
              <a:defRPr sz="1875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展示文章列表并可搜索</a:t>
            </a:r>
            <a:endParaRPr sz="2180" b="1" dirty="0">
              <a:solidFill>
                <a:srgbClr val="1F2937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200000"/>
              </a:lnSpc>
              <a:defRPr sz="1875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单源同步</a:t>
            </a: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/</a:t>
            </a: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全量同步</a:t>
            </a:r>
            <a:endParaRPr sz="2180" b="1" dirty="0">
              <a:solidFill>
                <a:srgbClr val="1F2937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200000"/>
              </a:lnSpc>
              <a:defRPr sz="1875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• OPML </a:t>
            </a: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导入（文件</a:t>
            </a: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/</a:t>
            </a: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粘贴</a:t>
            </a: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）</a:t>
            </a:r>
          </a:p>
          <a:p>
            <a:pPr algn="l">
              <a:lnSpc>
                <a:spcPct val="200000"/>
              </a:lnSpc>
              <a:defRPr sz="1875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• OPML </a:t>
            </a: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导出（桌面保存</a:t>
            </a: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F4F7F3B-974F-49DD-A58A-077EAD128778}"/>
              </a:ext>
            </a:extLst>
          </p:cNvPr>
          <p:cNvSpPr>
            <a:spLocks noGrp="1"/>
          </p:cNvSpPr>
          <p:nvPr/>
        </p:nvSpPr>
        <p:spPr>
          <a:xfrm>
            <a:off x="5707117" y="1030015"/>
            <a:ext cx="5129049" cy="5339254"/>
          </a:xfrm>
          <a:prstGeom prst="rect">
            <a:avLst/>
          </a:prstGeom>
          <a:solidFill>
            <a:srgbClr val="F8FAFC"/>
          </a:solidFill>
          <a:ln w="19050">
            <a:solidFill>
              <a:srgbClr val="9CA3AF"/>
            </a:solidFill>
            <a:prstDash val="solid"/>
          </a:ln>
        </p:spPr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62DBE6D-9D9C-C3CD-6175-527876881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701" y="1303766"/>
            <a:ext cx="4612743" cy="164328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BFDCA02-2AAA-A31E-8330-59669566A3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1700" y="3137785"/>
            <a:ext cx="4612743" cy="145732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B074A57-C5B5-8BE1-11A9-61C08F23BC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1700" y="4785838"/>
            <a:ext cx="4612743" cy="1429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673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8EC8119E-92FF-49F4-82B8-8E6EC68063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0B3A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9715C60-A787-40B8-B785-F714C1AFC6FF}"/>
              </a:ext>
            </a:extLst>
          </p:cNvPr>
          <p:cNvSpPr>
            <a:spLocks noGrp="1"/>
          </p:cNvSpPr>
          <p:nvPr/>
        </p:nvSpPr>
        <p:spPr>
          <a:xfrm>
            <a:off x="342900" y="190500"/>
            <a:ext cx="115062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/>
          <a:p>
            <a:pPr algn="l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界面与交互</a:t>
            </a:r>
            <a:endParaRPr sz="255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69B2E9C-3361-E73A-EEE9-A37BC2C55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545" y="876300"/>
            <a:ext cx="10068909" cy="588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350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74D9132-7A40-4250-930B-00322F0B03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0B3A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D21DF6B-6DE2-415F-BED1-66205E05DC55}"/>
              </a:ext>
            </a:extLst>
          </p:cNvPr>
          <p:cNvSpPr>
            <a:spLocks noGrp="1"/>
          </p:cNvSpPr>
          <p:nvPr/>
        </p:nvSpPr>
        <p:spPr>
          <a:xfrm>
            <a:off x="342900" y="152400"/>
            <a:ext cx="115062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/>
          <a:p>
            <a:pPr algn="l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验证结果与当前风险</a:t>
            </a:r>
            <a:endParaRPr sz="255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EAB7CA-F9D0-4785-9030-37A1D5E38A8D}"/>
              </a:ext>
            </a:extLst>
          </p:cNvPr>
          <p:cNvSpPr>
            <a:spLocks noGrp="1"/>
          </p:cNvSpPr>
          <p:nvPr/>
        </p:nvSpPr>
        <p:spPr>
          <a:xfrm>
            <a:off x="342900" y="1128876"/>
            <a:ext cx="9011965" cy="409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lnSpc>
                <a:spcPct val="200000"/>
              </a:lnSpc>
              <a:defRPr sz="1800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已验证</a:t>
            </a: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：</a:t>
            </a:r>
          </a:p>
          <a:p>
            <a:pPr algn="l">
              <a:lnSpc>
                <a:spcPct val="200000"/>
              </a:lnSpc>
              <a:defRPr sz="1800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后端构建通过</a:t>
            </a: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，</a:t>
            </a:r>
          </a:p>
          <a:p>
            <a:pPr>
              <a:lnSpc>
                <a:spcPct val="200000"/>
              </a:lnSpc>
              <a:defRPr sz="1800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前端构建通过，桌面应</a:t>
            </a:r>
            <a:r>
              <a:rPr lang="zh-CN" altLang="en-US"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单元测试通过（</a:t>
            </a:r>
            <a:r>
              <a:rPr lang="en-US" altLang="zh-CN"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Feed/Sync/OPML</a:t>
            </a:r>
            <a:r>
              <a:rPr lang="zh-CN" altLang="en-US"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）</a:t>
            </a: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用可启动</a:t>
            </a:r>
            <a:endParaRPr sz="2180" b="1" dirty="0">
              <a:solidFill>
                <a:srgbClr val="1F2937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AFC5A3B-051E-46D7-8C0E-FBC015E66CF3}"/>
              </a:ext>
            </a:extLst>
          </p:cNvPr>
          <p:cNvSpPr>
            <a:spLocks noGrp="1"/>
          </p:cNvSpPr>
          <p:nvPr/>
        </p:nvSpPr>
        <p:spPr>
          <a:xfrm>
            <a:off x="342900" y="3778795"/>
            <a:ext cx="10178612" cy="409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lnSpc>
                <a:spcPct val="200000"/>
              </a:lnSpc>
              <a:defRPr sz="1800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风险与待优化</a:t>
            </a: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：</a:t>
            </a:r>
          </a:p>
          <a:p>
            <a:pPr algn="l">
              <a:lnSpc>
                <a:spcPct val="200000"/>
              </a:lnSpc>
              <a:defRPr sz="1800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部分中文站点</a:t>
            </a: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 Feed </a:t>
            </a: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源稳定性一般（限流</a:t>
            </a: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/SSL </a:t>
            </a: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兼容</a:t>
            </a: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）</a:t>
            </a:r>
          </a:p>
          <a:p>
            <a:pPr algn="l">
              <a:lnSpc>
                <a:spcPct val="200000"/>
              </a:lnSpc>
              <a:defRPr sz="1800" b="0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2180" b="1" dirty="0" err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前端打包体积偏大（后续可做分包</a:t>
            </a:r>
            <a:r>
              <a:rPr sz="2180" b="1" dirty="0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091804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CE63EE-A6F7-4576-A0A2-8A001EDF74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0B3A6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FE22A1B-10BA-42FA-ADB9-EF7A7B159519}"/>
              </a:ext>
            </a:extLst>
          </p:cNvPr>
          <p:cNvSpPr>
            <a:spLocks noGrp="1"/>
          </p:cNvSpPr>
          <p:nvPr/>
        </p:nvSpPr>
        <p:spPr>
          <a:xfrm>
            <a:off x="342900" y="152400"/>
            <a:ext cx="115062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/>
          <a:p>
            <a:pPr algn="l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Q &amp; A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552B51-FA68-40AF-9AB9-162763722F63}"/>
              </a:ext>
            </a:extLst>
          </p:cNvPr>
          <p:cNvSpPr>
            <a:spLocks noGrp="1"/>
          </p:cNvSpPr>
          <p:nvPr/>
        </p:nvSpPr>
        <p:spPr>
          <a:xfrm>
            <a:off x="2324100" y="2667000"/>
            <a:ext cx="685800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/>
          <a:p>
            <a:pPr algn="ctr">
              <a:defRPr sz="4950" b="1">
                <a:solidFill>
                  <a:srgbClr val="0B3A66"/>
                </a:solidFill>
                <a:latin typeface="PingFang SC"/>
                <a:ea typeface="PingFang SC"/>
                <a:cs typeface="PingFang SC"/>
              </a:defRPr>
            </a:pPr>
            <a:r>
              <a:rPr sz="4950" b="1" dirty="0" err="1">
                <a:solidFill>
                  <a:srgbClr val="0B3A66"/>
                </a:solidFill>
                <a:latin typeface="PingFang SC"/>
                <a:ea typeface="PingFang SC"/>
                <a:cs typeface="PingFang SC"/>
              </a:rPr>
              <a:t>谢谢大家</a:t>
            </a:r>
            <a:endParaRPr sz="4950" b="1" dirty="0">
              <a:solidFill>
                <a:srgbClr val="0B3A66"/>
              </a:solidFill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155641578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</Words>
  <Application>Microsoft Macintosh PowerPoint</Application>
  <DocSecurity>0</DocSecurity>
  <PresentationFormat>宽屏</PresentationFormat>
  <Paragraphs>49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PingFang SC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zrxs</cp:lastModifiedBy>
  <cp:revision>1</cp:revision>
  <dcterms:created xsi:type="dcterms:W3CDTF">2026-05-28T09:05:28Z</dcterms:created>
  <dcterms:modified xsi:type="dcterms:W3CDTF">2026-05-28T10:28:30Z</dcterms:modified>
</cp:coreProperties>
</file>